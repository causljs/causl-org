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cinematic_3d_illustration_scene.png">    </p:cNvPr>
          <p:cNvPicPr>
            <a:picLocks noChangeAspect="1"/>
          </p:cNvPicPr>
          <p:nvPr/>
        </p:nvPicPr>
        <p:blipFill>
          <a:blip r:embed="rId1"/>
          <a:srcRect l="5000" r="31000" t="2000" b="2000"/>
          <a:stretch/>
        </p:blipFill>
        <p:spPr>
          <a:xfrm>
            <a:off x="5897880" y="411480"/>
            <a:ext cx="5715000" cy="5715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BRAND SYSTEM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30352" y="1024128"/>
            <a:ext cx="4389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StackRat</a:t>
            </a:r>
            <a:endParaRPr lang="en-US" sz="5000" dirty="0"/>
          </a:p>
        </p:txBody>
      </p:sp>
      <p:sp>
        <p:nvSpPr>
          <p:cNvPr id="5" name="Text 2"/>
          <p:cNvSpPr/>
          <p:nvPr/>
        </p:nvSpPr>
        <p:spPr>
          <a:xfrm>
            <a:off x="566928" y="1883664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50" b="1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 state for tangled dependency graphs.</a:t>
            </a:r>
            <a:endParaRPr lang="en-US" sz="1850" dirty="0"/>
          </a:p>
        </p:txBody>
      </p:sp>
      <p:sp>
        <p:nvSpPr>
          <p:cNvPr id="6" name="Shape 3"/>
          <p:cNvSpPr/>
          <p:nvPr/>
        </p:nvSpPr>
        <p:spPr>
          <a:xfrm>
            <a:off x="566928" y="2532888"/>
            <a:ext cx="2194560" cy="18288"/>
          </a:xfrm>
          <a:prstGeom prst="rect">
            <a:avLst/>
          </a:prstGeom>
          <a:solidFill>
            <a:srgbClr val="A7FF18">
              <a:alpha val="90000"/>
            </a:srgbClr>
          </a:solidFill>
          <a:ln w="12700">
            <a:solidFill>
              <a:srgbClr val="A7FF18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2788920"/>
            <a:ext cx="4434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compact, hacker-native brand for a state engine that turns rat-nest application logic into inspectable, deterministic, committed snapshots.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66928" y="4370832"/>
            <a:ext cx="4480560" cy="38404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facts → transactions → graph → snapshot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high_tech_abstract_data_visualization_c.png">    </p:cNvPr>
          <p:cNvPicPr>
            <a:picLocks noChangeAspect="1"/>
          </p:cNvPicPr>
          <p:nvPr/>
        </p:nvPicPr>
        <p:blipFill>
          <a:blip r:embed="rId1"/>
          <a:srcRect l="34000" r="15176" t="2000" b="2000"/>
          <a:stretch/>
        </p:blipFill>
        <p:spPr>
          <a:xfrm>
            <a:off x="6537960" y="502920"/>
            <a:ext cx="507492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BRAND PREMISE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48640" y="694944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rat in the stack finds the hidden path.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566928" y="1536192"/>
            <a:ext cx="5138928" cy="11521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frontend state begins as ordinary data, then mutates into a rat’s nest: async edges, stale writes, hidden derivations, formula chains, optimistic edits, and conflicts that only appear after users have seen inconsistent UI.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66928" y="2852928"/>
            <a:ext cx="5138928" cy="12070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turns that nest into a live, deterministic graph: every fact changes in a transaction, every derivation has provenance, every observer sees a committed snapshot, and every conflict becomes a record instead of a side effect.</a:t>
            </a:r>
            <a:endParaRPr lang="en-US" sz="1550" dirty="0"/>
          </a:p>
        </p:txBody>
      </p:sp>
      <p:sp>
        <p:nvSpPr>
          <p:cNvPr id="7" name="Shape 4"/>
          <p:cNvSpPr/>
          <p:nvPr/>
        </p:nvSpPr>
        <p:spPr>
          <a:xfrm>
            <a:off x="566928" y="4608576"/>
            <a:ext cx="4892040" cy="658368"/>
          </a:xfrm>
          <a:prstGeom prst="roundRect">
            <a:avLst>
              <a:gd name="adj" fmla="val 8333"/>
            </a:avLst>
          </a:prstGeom>
          <a:solidFill>
            <a:srgbClr val="101822">
              <a:alpha val="94000"/>
            </a:srgbClr>
          </a:solidFill>
          <a:ln w="8890">
            <a:solidFill>
              <a:srgbClr val="11D9FF">
                <a:alpha val="62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4809744"/>
            <a:ext cx="45262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 glitchy reads. No silent stale writes. No mystery recomputes.</a:t>
            </a:r>
            <a:endParaRPr lang="en-US" sz="114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0" name="Text 7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style_mascot_tech_logo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914400"/>
            <a:ext cx="3657600" cy="3657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NAME LOGIC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48640" y="694944"/>
            <a:ext cx="5120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+ Rat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5257800" cy="80467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name should feel like it belongs in a terminal, a GitHub README, and a debugging session. StackRat is short, visual, and slightly dangerous in the right way.</a:t>
            </a:r>
            <a:endParaRPr lang="en-US" sz="1620" dirty="0"/>
          </a:p>
        </p:txBody>
      </p:sp>
      <p:sp>
        <p:nvSpPr>
          <p:cNvPr id="6" name="Shape 3"/>
          <p:cNvSpPr/>
          <p:nvPr/>
        </p:nvSpPr>
        <p:spPr>
          <a:xfrm>
            <a:off x="658368" y="2578608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101822"/>
          </a:solidFill>
          <a:ln w="8890">
            <a:solidFill>
              <a:srgbClr val="11D9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1248" y="283464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841248" y="3154680"/>
            <a:ext cx="192024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 stacks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state stacks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 logs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undo/redo stacks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layered dependency graphs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3346704" y="2578608"/>
            <a:ext cx="2331720" cy="2011680"/>
          </a:xfrm>
          <a:prstGeom prst="roundRect">
            <a:avLst>
              <a:gd name="adj" fmla="val 2727"/>
            </a:avLst>
          </a:prstGeom>
          <a:solidFill>
            <a:srgbClr val="101822"/>
          </a:solidFill>
          <a:ln w="8890">
            <a:solidFill>
              <a:srgbClr val="A7FF1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29584" y="2834640"/>
            <a:ext cx="10972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RAT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3529584" y="3154680"/>
            <a:ext cx="192024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Scrappy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clever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kill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lives in the machinery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finds hidden paths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640080" y="5230368"/>
            <a:ext cx="516636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Preferred styling: StackRat. Avoid Stackrat, STACKRAT, or Stack-Rat except in package names where lowercase is required.</a:t>
            </a:r>
            <a:endParaRPr lang="en-US" sz="128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PRODUCT PROMISE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7132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only consistency.</a:t>
            </a:r>
            <a:endParaRPr lang="en-US" sz="3900" dirty="0"/>
          </a:p>
        </p:txBody>
      </p:sp>
      <p:sp>
        <p:nvSpPr>
          <p:cNvPr id="4" name="Text 2"/>
          <p:cNvSpPr/>
          <p:nvPr/>
        </p:nvSpPr>
        <p:spPr>
          <a:xfrm>
            <a:off x="566928" y="1481328"/>
            <a:ext cx="5852160" cy="87782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61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owns the critical transition between messy application intent and stable observable state. It does not merely store values; it schedules change, recomputes truth, and protects readers from half-mutated worlds.</a:t>
            </a:r>
            <a:endParaRPr lang="en-US" sz="1610" dirty="0"/>
          </a:p>
        </p:txBody>
      </p:sp>
      <p:sp>
        <p:nvSpPr>
          <p:cNvPr id="5" name="Shape 3"/>
          <p:cNvSpPr/>
          <p:nvPr/>
        </p:nvSpPr>
        <p:spPr>
          <a:xfrm>
            <a:off x="658368" y="274320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070A0F"/>
          </a:solidFill>
          <a:ln w="8890">
            <a:solidFill>
              <a:srgbClr val="11D9FF">
                <a:alpha val="7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9809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01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22960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Canonical facts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822960" y="3730752"/>
            <a:ext cx="214884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inside transactions; mutations become explicit records.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3447288" y="274320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101822"/>
          </a:solidFill>
          <a:ln w="8890">
            <a:solidFill>
              <a:srgbClr val="A7FF18">
                <a:alpha val="7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29809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02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3611880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Dependency graph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3611880" y="3730752"/>
            <a:ext cx="214884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Derived values recompute deterministically, with dynamic edges tracked.</a:t>
            </a:r>
            <a:endParaRPr lang="en-US" sz="1230" dirty="0"/>
          </a:p>
        </p:txBody>
      </p:sp>
      <p:sp>
        <p:nvSpPr>
          <p:cNvPr id="13" name="Shape 11"/>
          <p:cNvSpPr/>
          <p:nvPr/>
        </p:nvSpPr>
        <p:spPr>
          <a:xfrm>
            <a:off x="6236208" y="274320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070A0F"/>
          </a:solidFill>
          <a:ln w="8890">
            <a:solidFill>
              <a:srgbClr val="C8743D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29809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03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6400800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Committed snapshot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6400800" y="3730752"/>
            <a:ext cx="214884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Observers read only consistent state; no transient UI glitches.</a:t>
            </a:r>
            <a:endParaRPr lang="en-US" sz="1230" dirty="0"/>
          </a:p>
        </p:txBody>
      </p:sp>
      <p:sp>
        <p:nvSpPr>
          <p:cNvPr id="17" name="Shape 15"/>
          <p:cNvSpPr/>
          <p:nvPr/>
        </p:nvSpPr>
        <p:spPr>
          <a:xfrm>
            <a:off x="9025128" y="2743200"/>
            <a:ext cx="2606040" cy="2148840"/>
          </a:xfrm>
          <a:prstGeom prst="roundRect">
            <a:avLst>
              <a:gd name="adj" fmla="val 2553"/>
            </a:avLst>
          </a:prstGeom>
          <a:solidFill>
            <a:srgbClr val="101822"/>
          </a:solidFill>
          <a:ln w="8890">
            <a:solidFill>
              <a:srgbClr val="FFB02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89720" y="2980944"/>
            <a:ext cx="4572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B0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780" dirty="0"/>
          </a:p>
        </p:txBody>
      </p:sp>
      <p:sp>
        <p:nvSpPr>
          <p:cNvPr id="19" name="Text 17"/>
          <p:cNvSpPr/>
          <p:nvPr/>
        </p:nvSpPr>
        <p:spPr>
          <a:xfrm>
            <a:off x="9189720" y="3310128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 record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189720" y="3730752"/>
            <a:ext cx="214884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Races, stale async results, and collaboration conflicts become inspectable facts.</a:t>
            </a:r>
            <a:endParaRPr lang="en-US" sz="123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04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etailed_cinematic_sci_fi_scene_a_small_cyberp.png">    </p:cNvPr>
          <p:cNvPicPr>
            <a:picLocks noChangeAspect="1"/>
          </p:cNvPicPr>
          <p:nvPr/>
        </p:nvPicPr>
        <p:blipFill>
          <a:blip r:embed="rId1"/>
          <a:srcRect l="5000" r="45416" t="4000" b="4000"/>
          <a:stretch/>
        </p:blipFill>
        <p:spPr>
          <a:xfrm>
            <a:off x="6400800" y="594360"/>
            <a:ext cx="5166360" cy="5394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POSITIONING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48640" y="694944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apps where state is a live system, not a tree.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66928" y="1481328"/>
            <a:ext cx="5303520" cy="9601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4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is for product teams building spreadsheet-grade, workflow-heavy, collaborative, async-rich applications where reducer stores, atom graphs, and object observables each solve only part of the problem.</a:t>
            </a:r>
            <a:endParaRPr lang="en-US" sz="1540" dirty="0"/>
          </a:p>
        </p:txBody>
      </p:sp>
      <p:sp>
        <p:nvSpPr>
          <p:cNvPr id="6" name="Shape 3"/>
          <p:cNvSpPr/>
          <p:nvPr/>
        </p:nvSpPr>
        <p:spPr>
          <a:xfrm>
            <a:off x="658368" y="2788920"/>
            <a:ext cx="5074920" cy="1298448"/>
          </a:xfrm>
          <a:prstGeom prst="roundRect">
            <a:avLst>
              <a:gd name="adj" fmla="val 4225"/>
            </a:avLst>
          </a:prstGeom>
          <a:solidFill>
            <a:srgbClr val="101822">
              <a:alpha val="92000"/>
            </a:srgbClr>
          </a:solidFill>
          <a:ln w="8890">
            <a:solidFill>
              <a:srgbClr val="11D9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3017520"/>
            <a:ext cx="25603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POSITIONING STATEMENT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859536" y="3346704"/>
            <a:ext cx="4617720" cy="50292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is a transactional, dependency-aware state engine for applications that need deterministic recomputation, consistent snapshots, explainable derivations, and conflict-aware synchronization.</a:t>
            </a:r>
            <a:endParaRPr lang="en-US" sz="1380" dirty="0"/>
          </a:p>
        </p:txBody>
      </p:sp>
      <p:sp>
        <p:nvSpPr>
          <p:cNvPr id="9" name="Text 6"/>
          <p:cNvSpPr/>
          <p:nvPr/>
        </p:nvSpPr>
        <p:spPr>
          <a:xfrm>
            <a:off x="768096" y="4645152"/>
            <a:ext cx="4937760" cy="43891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Category: reactive transaction graph engine.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Plain-English category: state management for complex live systems.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1" name="Text 8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05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MESSAGING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6583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terse voice for serious systems.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6126480" cy="53035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brand should sound like a reliable systems tool with a mischievous mascot — confident, inspectable, direct, and never magical.</a:t>
            </a:r>
            <a:endParaRPr lang="en-US" sz="1580" dirty="0"/>
          </a:p>
        </p:txBody>
      </p:sp>
      <p:sp>
        <p:nvSpPr>
          <p:cNvPr id="5" name="Text 3"/>
          <p:cNvSpPr/>
          <p:nvPr/>
        </p:nvSpPr>
        <p:spPr>
          <a:xfrm>
            <a:off x="658368" y="2148840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PRIMARY TAGLINE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999232" y="2121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Transactional state for tangled dependency graphs.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58368" y="2862072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SHORT PROMISE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2999232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only consistency.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58368" y="3575304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DEVELOPER HOOK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2999232" y="354787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Catch race conditions in the walls.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8368" y="4288536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B020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TECHNICAL CLAIM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2999232" y="426110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MVCC-inspired snapshots, deterministic recomputation, first-class conflicts.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58368" y="5001768"/>
            <a:ext cx="2148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C4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EMOTIONAL CLAIM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999232" y="497433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 debugging ghosts in your state graph.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58368" y="5806440"/>
            <a:ext cx="10789920" cy="18288"/>
          </a:xfrm>
          <a:prstGeom prst="rect">
            <a:avLst/>
          </a:prstGeom>
          <a:solidFill>
            <a:srgbClr val="2B333D">
              <a:alpha val="90000"/>
            </a:srgbClr>
          </a:solidFill>
          <a:ln w="12700">
            <a:solidFill>
              <a:srgbClr val="2B333D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5961888"/>
            <a:ext cx="10698480" cy="31089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Tone rules: prefer concrete mechanisms over hype. Use hacker humour sparingly. Never imply the library is magic; the value is that it makes hidden state mechanics explicit.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06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vector_style_mascot_tech_logo_illust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188720"/>
            <a:ext cx="3886200" cy="3886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74920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IDENTITY SYSTEM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074920" y="749808"/>
            <a:ext cx="5852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mark: rat, stack, graph.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5074920" y="1499616"/>
            <a:ext cx="5943600" cy="1051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ideal mark is a sharp rat silhouette perched on layered stack slabs, with graph nodes orbiting or threading through the composition. It should work as a README badge, devtools icon, favicon, mascot sticker, and conference swag.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5074920" y="294436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USE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6492240" y="2916936"/>
            <a:ext cx="4937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 rat shape, layered slabs, neon graph nodes, one bright eye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5074920" y="356616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4D5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AVOID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6492240" y="3538728"/>
            <a:ext cx="4937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cute pet-rat styling, horror-pest imagery, malware/RAT jokes as the main story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5074920" y="418795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LOGO LOCKUP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6492240" y="4160520"/>
            <a:ext cx="4937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wordmark to the right of the mark; camelcase preserved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5074920" y="480974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ICON-ONLY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6492240" y="4782312"/>
            <a:ext cx="493776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rat-on-stack silhouette for favicon, package avatar, CLI splash</a:t>
            </a:r>
            <a:endParaRPr lang="en-US" sz="1280" dirty="0"/>
          </a:p>
        </p:txBody>
      </p:sp>
      <p:sp>
        <p:nvSpPr>
          <p:cNvPr id="14" name="Text 11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07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COLOR SYSTEM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7680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Dark terminal base. Neon state semantics.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10332720" cy="56692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6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palette should feel like a graph debugger at midnight: blackened surfaces, graphite structure, cyan data flow, green successful commits, copper machinery, amber conflict warnings, red rollback errors.</a:t>
            </a:r>
            <a:endParaRPr lang="en-US" sz="1460" dirty="0"/>
          </a:p>
        </p:txBody>
      </p:sp>
      <p:sp>
        <p:nvSpPr>
          <p:cNvPr id="5" name="Shape 3"/>
          <p:cNvSpPr/>
          <p:nvPr/>
        </p:nvSpPr>
        <p:spPr>
          <a:xfrm>
            <a:off x="658368" y="2176272"/>
            <a:ext cx="786384" cy="566928"/>
          </a:xfrm>
          <a:prstGeom prst="roundRect">
            <a:avLst>
              <a:gd name="adj" fmla="val 6452"/>
            </a:avLst>
          </a:prstGeom>
          <a:solidFill>
            <a:srgbClr val="070A0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6192" y="217627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Void Black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1536192" y="2386584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#070A0F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1536192" y="25603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app background</a:t>
            </a:r>
            <a:endParaRPr lang="en-US" sz="760" dirty="0"/>
          </a:p>
        </p:txBody>
      </p:sp>
      <p:sp>
        <p:nvSpPr>
          <p:cNvPr id="9" name="Shape 7"/>
          <p:cNvSpPr/>
          <p:nvPr/>
        </p:nvSpPr>
        <p:spPr>
          <a:xfrm>
            <a:off x="2871216" y="2176272"/>
            <a:ext cx="786384" cy="566928"/>
          </a:xfrm>
          <a:prstGeom prst="roundRect">
            <a:avLst>
              <a:gd name="adj" fmla="val 6452"/>
            </a:avLst>
          </a:prstGeom>
          <a:solidFill>
            <a:srgbClr val="101822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217627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Slate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749040" y="2386584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#101822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3749040" y="25603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panels, cards, docs surfaces</a:t>
            </a:r>
            <a:endParaRPr lang="en-US" sz="760" dirty="0"/>
          </a:p>
        </p:txBody>
      </p:sp>
      <p:sp>
        <p:nvSpPr>
          <p:cNvPr id="13" name="Shape 11"/>
          <p:cNvSpPr/>
          <p:nvPr/>
        </p:nvSpPr>
        <p:spPr>
          <a:xfrm>
            <a:off x="5084064" y="2176272"/>
            <a:ext cx="786384" cy="566928"/>
          </a:xfrm>
          <a:prstGeom prst="roundRect">
            <a:avLst>
              <a:gd name="adj" fmla="val 6452"/>
            </a:avLst>
          </a:prstGeom>
          <a:solidFill>
            <a:srgbClr val="2B333D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61888" y="217627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Rat Graphite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961888" y="2386584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#2B333D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5961888" y="25603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borders, disabled elements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7296912" y="2176272"/>
            <a:ext cx="786384" cy="566928"/>
          </a:xfrm>
          <a:prstGeom prst="roundRect">
            <a:avLst>
              <a:gd name="adj" fmla="val 6452"/>
            </a:avLst>
          </a:prstGeom>
          <a:solidFill>
            <a:srgbClr val="D7E6EA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74736" y="217627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Snapshot Mist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174736" y="2386584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#D7E6EA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8174736" y="25603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text on dark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9509760" y="2176272"/>
            <a:ext cx="786384" cy="566928"/>
          </a:xfrm>
          <a:prstGeom prst="roundRect">
            <a:avLst>
              <a:gd name="adj" fmla="val 6452"/>
            </a:avLst>
          </a:prstGeom>
          <a:solidFill>
            <a:srgbClr val="11D9F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87584" y="2176272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 Cyan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10387584" y="2386584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#11D9FF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10387584" y="25603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links, dependency edges, live data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658368" y="3163824"/>
            <a:ext cx="786384" cy="566928"/>
          </a:xfrm>
          <a:prstGeom prst="roundRect">
            <a:avLst>
              <a:gd name="adj" fmla="val 6452"/>
            </a:avLst>
          </a:prstGeom>
          <a:solidFill>
            <a:srgbClr val="A7FF18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536192" y="31638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Green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1536192" y="33741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#A7FF18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1536192" y="3547872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success, committed snapshots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2871216" y="3163824"/>
            <a:ext cx="786384" cy="566928"/>
          </a:xfrm>
          <a:prstGeom prst="roundRect">
            <a:avLst>
              <a:gd name="adj" fmla="val 6452"/>
            </a:avLst>
          </a:prstGeom>
          <a:solidFill>
            <a:srgbClr val="C8743D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31638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Copper Wire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3749040" y="33741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#C8743D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3749040" y="3547872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mascot metal, structural accents</a:t>
            </a:r>
            <a:endParaRPr lang="en-US" sz="760" dirty="0"/>
          </a:p>
        </p:txBody>
      </p:sp>
      <p:sp>
        <p:nvSpPr>
          <p:cNvPr id="33" name="Shape 31"/>
          <p:cNvSpPr/>
          <p:nvPr/>
        </p:nvSpPr>
        <p:spPr>
          <a:xfrm>
            <a:off x="5084064" y="3163824"/>
            <a:ext cx="786384" cy="566928"/>
          </a:xfrm>
          <a:prstGeom prst="roundRect">
            <a:avLst>
              <a:gd name="adj" fmla="val 6452"/>
            </a:avLst>
          </a:prstGeom>
          <a:solidFill>
            <a:srgbClr val="FFB020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31638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 Amber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5961888" y="33741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#FFB020</a:t>
            </a:r>
            <a:endParaRPr lang="en-US" sz="780" dirty="0"/>
          </a:p>
        </p:txBody>
      </p:sp>
      <p:sp>
        <p:nvSpPr>
          <p:cNvPr id="36" name="Text 34"/>
          <p:cNvSpPr/>
          <p:nvPr/>
        </p:nvSpPr>
        <p:spPr>
          <a:xfrm>
            <a:off x="5961888" y="3547872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warnings, conflicts, unresolved branches</a:t>
            </a:r>
            <a:endParaRPr lang="en-US" sz="760" dirty="0"/>
          </a:p>
        </p:txBody>
      </p:sp>
      <p:sp>
        <p:nvSpPr>
          <p:cNvPr id="37" name="Shape 35"/>
          <p:cNvSpPr/>
          <p:nvPr/>
        </p:nvSpPr>
        <p:spPr>
          <a:xfrm>
            <a:off x="7296912" y="3163824"/>
            <a:ext cx="786384" cy="566928"/>
          </a:xfrm>
          <a:prstGeom prst="roundRect">
            <a:avLst>
              <a:gd name="adj" fmla="val 6452"/>
            </a:avLst>
          </a:prstGeom>
          <a:solidFill>
            <a:srgbClr val="FF4D5E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174736" y="31638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Rollback Red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8174736" y="33741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#FF4D5E</a:t>
            </a:r>
            <a:endParaRPr lang="en-US" sz="780" dirty="0"/>
          </a:p>
        </p:txBody>
      </p:sp>
      <p:sp>
        <p:nvSpPr>
          <p:cNvPr id="40" name="Text 38"/>
          <p:cNvSpPr/>
          <p:nvPr/>
        </p:nvSpPr>
        <p:spPr>
          <a:xfrm>
            <a:off x="8174736" y="3547872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errors, stale async overwrites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9509760" y="3163824"/>
            <a:ext cx="786384" cy="566928"/>
          </a:xfrm>
          <a:prstGeom prst="roundRect">
            <a:avLst>
              <a:gd name="adj" fmla="val 6452"/>
            </a:avLst>
          </a:prstGeom>
          <a:solidFill>
            <a:srgbClr val="7C4DFF"/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87584" y="3163824"/>
            <a:ext cx="12435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Mutation Violet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10387584" y="3374136"/>
            <a:ext cx="12435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#7C4DFF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10387584" y="3547872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experimental or formula edits</a:t>
            </a:r>
            <a:endParaRPr lang="en-US" sz="760" dirty="0"/>
          </a:p>
        </p:txBody>
      </p:sp>
      <p:sp>
        <p:nvSpPr>
          <p:cNvPr id="45" name="Shape 43"/>
          <p:cNvSpPr/>
          <p:nvPr/>
        </p:nvSpPr>
        <p:spPr>
          <a:xfrm>
            <a:off x="658368" y="4736592"/>
            <a:ext cx="10835640" cy="694944"/>
          </a:xfrm>
          <a:prstGeom prst="roundRect">
            <a:avLst>
              <a:gd name="adj" fmla="val 7895"/>
            </a:avLst>
          </a:prstGeom>
          <a:solidFill>
            <a:srgbClr val="101822">
              <a:alpha val="95000"/>
            </a:srgbClr>
          </a:solidFill>
          <a:ln w="8890">
            <a:solidFill>
              <a:srgbClr val="2B333D">
                <a:alpha val="75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68680" y="4919472"/>
            <a:ext cx="1042416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convention: cyan means “live edge,” green means “committed,” amber means “conflict,” red means “unsafe/stale,” violet means “mutation/formula activity.” Do not use these colors randomly; developers should learn the state language by sight.</a:t>
            </a:r>
            <a:endParaRPr lang="en-US" sz="1180" dirty="0"/>
          </a:p>
        </p:txBody>
      </p:sp>
      <p:sp>
        <p:nvSpPr>
          <p:cNvPr id="47" name="Text 45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48" name="Text 46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08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TYPOGRAPHY + UI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6858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Readable docs, surgical devtools.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6217920" cy="74980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1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type stack: Inter or Aptos for product/docs text; JetBrains Mono, Cascadia Mono, or IBM Plex Mono for code, transaction IDs, graph labels, and event logs.</a:t>
            </a:r>
            <a:endParaRPr lang="en-US" sz="1510" dirty="0"/>
          </a:p>
        </p:txBody>
      </p:sp>
      <p:sp>
        <p:nvSpPr>
          <p:cNvPr id="5" name="Shape 3"/>
          <p:cNvSpPr/>
          <p:nvPr/>
        </p:nvSpPr>
        <p:spPr>
          <a:xfrm>
            <a:off x="658368" y="2450592"/>
            <a:ext cx="5120640" cy="1901952"/>
          </a:xfrm>
          <a:prstGeom prst="roundRect">
            <a:avLst>
              <a:gd name="adj" fmla="val 2885"/>
            </a:avLst>
          </a:prstGeom>
          <a:solidFill>
            <a:srgbClr val="101822"/>
          </a:solidFill>
          <a:ln w="8890">
            <a:solidFill>
              <a:srgbClr val="11D9FF">
                <a:alpha val="5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2706624"/>
            <a:ext cx="1645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DOCS VOICE</a:t>
            </a:r>
            <a:endParaRPr lang="en-US" sz="780" dirty="0"/>
          </a:p>
        </p:txBody>
      </p:sp>
      <p:sp>
        <p:nvSpPr>
          <p:cNvPr id="7" name="Text 5"/>
          <p:cNvSpPr/>
          <p:nvPr/>
        </p:nvSpPr>
        <p:spPr>
          <a:xfrm>
            <a:off x="877824" y="305409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“Every observer reads from a committed snapshot.”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77824" y="3575304"/>
            <a:ext cx="4434840" cy="38404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the mechanism, then show the small API. The brand earns trust by making complex state behavior legible.</a:t>
            </a:r>
            <a:endParaRPr lang="en-US" sz="1220" dirty="0"/>
          </a:p>
        </p:txBody>
      </p:sp>
      <p:sp>
        <p:nvSpPr>
          <p:cNvPr id="9" name="Shape 7"/>
          <p:cNvSpPr/>
          <p:nvPr/>
        </p:nvSpPr>
        <p:spPr>
          <a:xfrm>
            <a:off x="6144768" y="2450592"/>
            <a:ext cx="5166360" cy="1901952"/>
          </a:xfrm>
          <a:prstGeom prst="roundRect">
            <a:avLst>
              <a:gd name="adj" fmla="val 2885"/>
            </a:avLst>
          </a:prstGeom>
          <a:solidFill>
            <a:srgbClr val="101822"/>
          </a:solidFill>
          <a:ln w="8890">
            <a:solidFill>
              <a:srgbClr val="A7FF18">
                <a:alpha val="5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64224" y="2706624"/>
            <a:ext cx="2057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DEVTOOLS SURFACE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6364224" y="3035808"/>
            <a:ext cx="4572000" cy="7498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txn#183  committed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edge: room.area → floor.total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async: stale result blocked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conflict: lease.booking.overlap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6364224" y="3913632"/>
            <a:ext cx="457200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should privilege timelines, graph traces, conflict records, and snapshot diffs over decorative chrome.</a:t>
            </a:r>
            <a:endParaRPr lang="en-US" sz="112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09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ly_detailed_cinematic_3d_illustration_scene.png">    </p:cNvPr>
          <p:cNvPicPr>
            <a:picLocks noChangeAspect="1"/>
          </p:cNvPicPr>
          <p:nvPr/>
        </p:nvPicPr>
        <p:blipFill>
          <a:blip r:embed="rId1"/>
          <a:srcRect l="0" r="45419" t="0" b="8000"/>
          <a:stretch/>
        </p:blipFill>
        <p:spPr>
          <a:xfrm>
            <a:off x="502920" y="960120"/>
            <a:ext cx="4434840" cy="49834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32120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MASCOT SYSTEM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532120" y="749808"/>
            <a:ext cx="5943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Scrappy systems engineer, not cartoon pest.</a:t>
            </a:r>
            <a:endParaRPr lang="en-US" sz="3100" dirty="0"/>
          </a:p>
        </p:txBody>
      </p:sp>
      <p:sp>
        <p:nvSpPr>
          <p:cNvPr id="5" name="Text 2"/>
          <p:cNvSpPr/>
          <p:nvPr/>
        </p:nvSpPr>
        <p:spPr>
          <a:xfrm>
            <a:off x="5532120" y="1481328"/>
            <a:ext cx="5806440" cy="859536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52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StackRat’s mascot is a midnight infrastructure creature: clever, compact, persistent, and calm inside messy machinery. It should make complex state feel inspectable without making the product feel unserious.</a:t>
            </a:r>
            <a:endParaRPr lang="en-US" sz="1520" dirty="0"/>
          </a:p>
        </p:txBody>
      </p:sp>
      <p:sp>
        <p:nvSpPr>
          <p:cNvPr id="6" name="Text 3"/>
          <p:cNvSpPr/>
          <p:nvPr/>
        </p:nvSpPr>
        <p:spPr>
          <a:xfrm>
            <a:off x="5532120" y="2761488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SILHOUETTE</a:t>
            </a:r>
            <a:endParaRPr lang="en-US" sz="780" dirty="0"/>
          </a:p>
        </p:txBody>
      </p:sp>
      <p:sp>
        <p:nvSpPr>
          <p:cNvPr id="7" name="Text 4"/>
          <p:cNvSpPr/>
          <p:nvPr/>
        </p:nvSpPr>
        <p:spPr>
          <a:xfrm>
            <a:off x="7022592" y="2724912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 tail as a graph edge; angular ears; one neon eye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5532120" y="3401568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PROPS</a:t>
            </a:r>
            <a:endParaRPr lang="en-US" sz="780" dirty="0"/>
          </a:p>
        </p:txBody>
      </p:sp>
      <p:sp>
        <p:nvSpPr>
          <p:cNvPr id="9" name="Text 6"/>
          <p:cNvSpPr/>
          <p:nvPr/>
        </p:nvSpPr>
        <p:spPr>
          <a:xfrm>
            <a:off x="7022592" y="3364992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stamp, transaction log, small diagnostic visor, cable harness</a:t>
            </a:r>
            <a:endParaRPr lang="en-US" sz="1280" dirty="0"/>
          </a:p>
        </p:txBody>
      </p:sp>
      <p:sp>
        <p:nvSpPr>
          <p:cNvPr id="10" name="Text 7"/>
          <p:cNvSpPr/>
          <p:nvPr/>
        </p:nvSpPr>
        <p:spPr>
          <a:xfrm>
            <a:off x="5532120" y="4041648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EXPRESSIONS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7022592" y="4005072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alert, skeptical, triumphant after catching a stale write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5532120" y="4681728"/>
            <a:ext cx="102412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FF4D5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 NOT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022592" y="4645152"/>
            <a:ext cx="4663440" cy="3200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it gross, horror-coded, or too plush-toy cute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5532120" y="5413248"/>
            <a:ext cx="2606040" cy="292608"/>
          </a:xfrm>
          <a:prstGeom prst="roundRect">
            <a:avLst>
              <a:gd name="adj" fmla="val 25000"/>
            </a:avLst>
          </a:prstGeom>
          <a:solidFill>
            <a:srgbClr val="A7FF18">
              <a:alpha val="13000"/>
            </a:srgbClr>
          </a:solidFill>
          <a:ln w="8890">
            <a:solidFill>
              <a:srgbClr val="A7FF18">
                <a:alpha val="75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05272" y="5481828"/>
            <a:ext cx="24597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sticker: “commit only consistency”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8275320" y="5413248"/>
            <a:ext cx="2423160" cy="292608"/>
          </a:xfrm>
          <a:prstGeom prst="roundRect">
            <a:avLst>
              <a:gd name="adj" fmla="val 25000"/>
            </a:avLst>
          </a:prstGeom>
          <a:solidFill>
            <a:srgbClr val="FF4D5E">
              <a:alpha val="13000"/>
            </a:srgbClr>
          </a:solidFill>
          <a:ln w="8890">
            <a:solidFill>
              <a:srgbClr val="FF4D5E">
                <a:alpha val="75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48472" y="548182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4D5E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error state: “stale write caught”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10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TECHNICAL LANGUAGE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8686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Name the system around transactions, traces, and snapshots.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298448"/>
            <a:ext cx="9875520" cy="475488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should expose a memorable vocabulary that matches its brand promise without obscuring the underlying mechanics.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58368" y="210312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FACT</a:t>
            </a:r>
            <a:endParaRPr lang="en-US" sz="780" dirty="0"/>
          </a:p>
        </p:txBody>
      </p:sp>
      <p:sp>
        <p:nvSpPr>
          <p:cNvPr id="6" name="Text 4"/>
          <p:cNvSpPr/>
          <p:nvPr/>
        </p:nvSpPr>
        <p:spPr>
          <a:xfrm>
            <a:off x="2231136" y="2071116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mutable source of truth changed only in a transaction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236208" y="2103120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TRACE</a:t>
            </a:r>
            <a:endParaRPr lang="en-US" sz="780" dirty="0"/>
          </a:p>
        </p:txBody>
      </p:sp>
      <p:sp>
        <p:nvSpPr>
          <p:cNvPr id="8" name="Text 6"/>
          <p:cNvSpPr/>
          <p:nvPr/>
        </p:nvSpPr>
        <p:spPr>
          <a:xfrm>
            <a:off x="7808976" y="2071116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explainable derivation path through the graph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8368" y="288950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BURROW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2231136" y="2857500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optional name for a scoped store / isolated state graph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236208" y="2889504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C4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NEST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7808976" y="2857500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graph inspector view; also a term for complex dependency clusters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58368" y="36758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SNAPSHOT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2231136" y="3643884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committed observable read model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236208" y="3675888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SNARE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7808976" y="3643884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detected stale async result or unsafe overwrite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8368" y="44622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C8743D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CONFLICT</a:t>
            </a:r>
            <a:endParaRPr lang="en-US" sz="780" dirty="0"/>
          </a:p>
        </p:txBody>
      </p:sp>
      <p:sp>
        <p:nvSpPr>
          <p:cNvPr id="18" name="Text 16"/>
          <p:cNvSpPr/>
          <p:nvPr/>
        </p:nvSpPr>
        <p:spPr>
          <a:xfrm>
            <a:off x="2231136" y="4430268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first-class record, not a hidden exception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236208" y="4462272"/>
            <a:ext cx="9601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7C4D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COMMIT</a:t>
            </a:r>
            <a:endParaRPr lang="en-US" sz="780" dirty="0"/>
          </a:p>
        </p:txBody>
      </p:sp>
      <p:sp>
        <p:nvSpPr>
          <p:cNvPr id="20" name="Text 18"/>
          <p:cNvSpPr/>
          <p:nvPr/>
        </p:nvSpPr>
        <p:spPr>
          <a:xfrm>
            <a:off x="7808976" y="4430268"/>
            <a:ext cx="3977640" cy="256032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transaction boundary with undo/redo support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11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dark_high_tech_abstract_data_visualization_c.png">    </p:cNvPr>
          <p:cNvPicPr>
            <a:picLocks noChangeAspect="1"/>
          </p:cNvPicPr>
          <p:nvPr/>
        </p:nvPicPr>
        <p:blipFill>
          <a:blip r:embed="rId1"/>
          <a:srcRect l="18000" r="-49213" t="2000" b="2000"/>
          <a:stretch/>
        </p:blipFill>
        <p:spPr>
          <a:xfrm>
            <a:off x="7543800" y="594360"/>
            <a:ext cx="3886200" cy="1600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28" y="420624"/>
            <a:ext cx="53035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BRAND SPECIFICATION SUMMARY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66928" y="877824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StackRat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03504" y="1691640"/>
            <a:ext cx="4754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F1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Commit only consistency.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658368" y="2542032"/>
            <a:ext cx="5166360" cy="2194560"/>
          </a:xfrm>
          <a:prstGeom prst="roundRect">
            <a:avLst>
              <a:gd name="adj" fmla="val 2500"/>
            </a:avLst>
          </a:prstGeom>
          <a:solidFill>
            <a:srgbClr val="070A0F">
              <a:alpha val="91000"/>
            </a:srgbClr>
          </a:solidFill>
          <a:ln w="8890">
            <a:solidFill>
              <a:srgbClr val="11D9FF">
                <a:alpha val="6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77824" y="2834640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11D9FF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RECOMMENDED PACKAGES</a:t>
            </a:r>
            <a:endParaRPr lang="en-US" sz="780" dirty="0"/>
          </a:p>
        </p:txBody>
      </p:sp>
      <p:sp>
        <p:nvSpPr>
          <p:cNvPr id="8" name="Text 5"/>
          <p:cNvSpPr/>
          <p:nvPr/>
        </p:nvSpPr>
        <p:spPr>
          <a:xfrm>
            <a:off x="877824" y="3182112"/>
            <a:ext cx="4480560" cy="9144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@stackrat/core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@stackrat/react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@stackrat/devtools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@stackrat/formula</a:t>
            </a:r>
            <a:endParaRPr lang="en-US" sz="1240" dirty="0"/>
          </a:p>
          <a:p>
            <a:pPr indent="0" marL="0">
              <a:buNone/>
            </a:pPr>
            <a:r>
              <a:rPr lang="en-US" sz="1240" dirty="0">
                <a:solidFill>
                  <a:srgbClr val="D7E6E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@stackrat/sync</a:t>
            </a:r>
            <a:endParaRPr lang="en-US" sz="1240" dirty="0"/>
          </a:p>
        </p:txBody>
      </p:sp>
      <p:sp>
        <p:nvSpPr>
          <p:cNvPr id="9" name="Shape 6"/>
          <p:cNvSpPr/>
          <p:nvPr/>
        </p:nvSpPr>
        <p:spPr>
          <a:xfrm>
            <a:off x="6446520" y="2542032"/>
            <a:ext cx="4937760" cy="2194560"/>
          </a:xfrm>
          <a:prstGeom prst="roundRect">
            <a:avLst>
              <a:gd name="adj" fmla="val 2500"/>
            </a:avLst>
          </a:prstGeom>
          <a:solidFill>
            <a:srgbClr val="070A0F">
              <a:alpha val="91000"/>
            </a:srgbClr>
          </a:solidFill>
          <a:ln w="8890">
            <a:solidFill>
              <a:srgbClr val="A7FF18">
                <a:alpha val="6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56832" y="2834640"/>
            <a:ext cx="20116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A7FF18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LAUNCH ONE-LINER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6656832" y="3182112"/>
            <a:ext cx="4389120" cy="69494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D7E6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StackRat is an open-source transactional state engine for live dependency graphs: deterministic recomputation, consistent snapshots, stale async protection, and first-class conflict records.</a:t>
            </a:r>
            <a:endParaRPr lang="en-US" sz="1340" dirty="0"/>
          </a:p>
        </p:txBody>
      </p:sp>
      <p:sp>
        <p:nvSpPr>
          <p:cNvPr id="12" name="Text 9"/>
          <p:cNvSpPr/>
          <p:nvPr/>
        </p:nvSpPr>
        <p:spPr>
          <a:xfrm>
            <a:off x="6656832" y="4187952"/>
            <a:ext cx="4343400" cy="329184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8FA2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next steps: domain verification, GitHub/npm/crates availability check, logo refinement, README landing page, and devtools visual prototype.</a:t>
            </a:r>
            <a:endParaRPr lang="en-US" sz="113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StackRat brand specification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1292840" y="647395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80" dirty="0">
                <a:solidFill>
                  <a:srgbClr val="8FA2AA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12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StackRat Brand Specification</dc:title>
  <dc:subject>StackRat brand story and identity specification</dc:subject>
  <dc:creator>OpenAI</dc:creator>
  <cp:lastModifiedBy>OpenAI</cp:lastModifiedBy>
  <cp:revision>1</cp:revision>
  <dcterms:created xsi:type="dcterms:W3CDTF">2026-04-27T05:12:08Z</dcterms:created>
  <dcterms:modified xsi:type="dcterms:W3CDTF">2026-04-27T05:12:08Z</dcterms:modified>
</cp:coreProperties>
</file>